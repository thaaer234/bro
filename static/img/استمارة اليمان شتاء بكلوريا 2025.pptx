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318A"/>
    <a:srgbClr val="005F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209" d="100"/>
          <a:sy n="209" d="100"/>
        </p:scale>
        <p:origin x="-1411"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932809-504D-4AEE-B1FC-0A8F4DC6FDC7}"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785522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32809-504D-4AEE-B1FC-0A8F4DC6FDC7}"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110020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932809-504D-4AEE-B1FC-0A8F4DC6FDC7}"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388550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932809-504D-4AEE-B1FC-0A8F4DC6FDC7}"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278662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932809-504D-4AEE-B1FC-0A8F4DC6FDC7}"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1706680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932809-504D-4AEE-B1FC-0A8F4DC6FDC7}"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573996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932809-504D-4AEE-B1FC-0A8F4DC6FDC7}"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18458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6932809-504D-4AEE-B1FC-0A8F4DC6FDC7}"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2995025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6932809-504D-4AEE-B1FC-0A8F4DC6FDC7}"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400676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32809-504D-4AEE-B1FC-0A8F4DC6FDC7}"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934883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32809-504D-4AEE-B1FC-0A8F4DC6FDC7}"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491037-C070-4E7A-A769-CE5CA22D8317}" type="slidenum">
              <a:rPr lang="en-US" smtClean="0"/>
              <a:t>‹#›</a:t>
            </a:fld>
            <a:endParaRPr lang="en-US"/>
          </a:p>
        </p:txBody>
      </p:sp>
    </p:spTree>
    <p:extLst>
      <p:ext uri="{BB962C8B-B14F-4D97-AF65-F5344CB8AC3E}">
        <p14:creationId xmlns:p14="http://schemas.microsoft.com/office/powerpoint/2010/main" val="857359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06932809-504D-4AEE-B1FC-0A8F4DC6FDC7}" type="datetimeFigureOut">
              <a:rPr lang="en-US" smtClean="0"/>
              <a:t>4/21/2026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D0491037-C070-4E7A-A769-CE5CA22D8317}" type="slidenum">
              <a:rPr lang="en-US" smtClean="0"/>
              <a:t>‹#›</a:t>
            </a:fld>
            <a:endParaRPr lang="en-US"/>
          </a:p>
        </p:txBody>
      </p:sp>
    </p:spTree>
    <p:extLst>
      <p:ext uri="{BB962C8B-B14F-4D97-AF65-F5344CB8AC3E}">
        <p14:creationId xmlns:p14="http://schemas.microsoft.com/office/powerpoint/2010/main" val="3348521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2.pn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1000" r="-1000"/>
          </a:stretch>
        </a:blip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23B62F4B-0CEC-5CA9-90E6-BD2EC94C41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5" y="0"/>
            <a:ext cx="3429000" cy="165386"/>
          </a:xfrm>
          <a:prstGeom prst="rect">
            <a:avLst/>
          </a:prstGeom>
        </p:spPr>
      </p:pic>
      <p:pic>
        <p:nvPicPr>
          <p:cNvPr id="21" name="Graphic 20">
            <a:extLst>
              <a:ext uri="{FF2B5EF4-FFF2-40B4-BE49-F238E27FC236}">
                <a16:creationId xmlns:a16="http://schemas.microsoft.com/office/drawing/2014/main" id="{E86F8580-4B3D-7056-35CF-27249BF142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3429000" y="0"/>
            <a:ext cx="3429000" cy="165386"/>
          </a:xfrm>
          <a:prstGeom prst="rect">
            <a:avLst/>
          </a:prstGeom>
        </p:spPr>
      </p:pic>
      <p:sp>
        <p:nvSpPr>
          <p:cNvPr id="24" name="TextBox 23">
            <a:extLst>
              <a:ext uri="{FF2B5EF4-FFF2-40B4-BE49-F238E27FC236}">
                <a16:creationId xmlns:a16="http://schemas.microsoft.com/office/drawing/2014/main" id="{D7D5BE9E-1504-1B40-57CD-17E373562701}"/>
              </a:ext>
            </a:extLst>
          </p:cNvPr>
          <p:cNvSpPr txBox="1"/>
          <p:nvPr/>
        </p:nvSpPr>
        <p:spPr>
          <a:xfrm>
            <a:off x="1422399" y="331403"/>
            <a:ext cx="5499101" cy="1246495"/>
          </a:xfrm>
          <a:prstGeom prst="rect">
            <a:avLst/>
          </a:prstGeom>
          <a:noFill/>
        </p:spPr>
        <p:txBody>
          <a:bodyPr wrap="square">
            <a:spAutoFit/>
          </a:bodyPr>
          <a:lstStyle/>
          <a:p>
            <a:pPr marL="0" marR="0" indent="88900" algn="ctr" rtl="1">
              <a:lnSpc>
                <a:spcPct val="150000"/>
              </a:lnSpc>
              <a:spcBef>
                <a:spcPts val="0"/>
              </a:spcBef>
              <a:spcAft>
                <a:spcPts val="0"/>
              </a:spcAft>
            </a:pPr>
            <a:r>
              <a:rPr lang="ar-SY" sz="2800" b="1" kern="1200" dirty="0">
                <a:solidFill>
                  <a:srgbClr val="62318A"/>
                </a:solidFill>
                <a:effectLst/>
                <a:latin typeface="Cocon® Next Arabic" panose="020A0503020102020204" pitchFamily="18" charset="-78"/>
                <a:ea typeface="Cocon® Next Arabic" panose="020A0503020102020204" pitchFamily="18" charset="-78"/>
                <a:cs typeface="Cocon® Next Arabic" panose="020A0503020102020204" pitchFamily="18" charset="-78"/>
              </a:rPr>
              <a:t>معهدُ اليمانِ</a:t>
            </a:r>
            <a:r>
              <a:rPr lang="en-US" sz="2800" b="1" kern="1200" dirty="0">
                <a:solidFill>
                  <a:srgbClr val="62318A"/>
                </a:solidFill>
                <a:effectLst/>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2800" b="1" kern="1200" dirty="0">
                <a:solidFill>
                  <a:srgbClr val="005F7D"/>
                </a:solidFill>
                <a:effectLst/>
                <a:latin typeface="Cocon® Next Arabic" panose="020A0503020102020204" pitchFamily="18" charset="-78"/>
                <a:ea typeface="Cocon® Next Arabic" panose="020A0503020102020204" pitchFamily="18" charset="-78"/>
                <a:cs typeface="Cocon® Next Arabic" panose="020A0503020102020204" pitchFamily="18" charset="-78"/>
              </a:rPr>
              <a:t>للعلومِ والّلغاتِ</a:t>
            </a:r>
            <a:endParaRPr lang="en-US" sz="1100" dirty="0">
              <a:effectLst/>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ctr" rtl="1">
              <a:lnSpc>
                <a:spcPct val="150000"/>
              </a:lnSpc>
              <a:spcBef>
                <a:spcPts val="0"/>
              </a:spcBef>
              <a:spcAft>
                <a:spcPts val="0"/>
              </a:spcAft>
            </a:pPr>
            <a:r>
              <a:rPr lang="ar-SA" sz="2400" b="1" dirty="0">
                <a:effectLst/>
                <a:latin typeface="Cocon® Next Arabic" panose="020A0503020102020204" pitchFamily="18" charset="-78"/>
                <a:ea typeface="Cocon® Next Arabic" panose="020A0503020102020204" pitchFamily="18" charset="-78"/>
                <a:cs typeface="Cocon® Next Arabic" panose="020A0503020102020204" pitchFamily="18" charset="-78"/>
              </a:rPr>
              <a:t>استمارة انتساب </a:t>
            </a:r>
            <a:r>
              <a:rPr lang="ar-SY" sz="2400" b="1" dirty="0">
                <a:effectLst/>
                <a:latin typeface="Cocon® Next Arabic" panose="020A0503020102020204" pitchFamily="18" charset="-78"/>
                <a:ea typeface="Cocon® Next Arabic" panose="020A0503020102020204" pitchFamily="18" charset="-78"/>
                <a:cs typeface="Cocon® Next Arabic" panose="020A0503020102020204" pitchFamily="18" charset="-78"/>
              </a:rPr>
              <a:t>شتاء</a:t>
            </a:r>
            <a:r>
              <a:rPr lang="ar-SA" sz="2400" b="1" dirty="0">
                <a:effectLst/>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2400" b="1" kern="1200" dirty="0">
                <a:solidFill>
                  <a:srgbClr val="62318A"/>
                </a:solidFill>
                <a:effectLst/>
                <a:latin typeface="Cocon® Next Arabic" panose="020A0503020102020204" pitchFamily="18" charset="-78"/>
                <a:ea typeface="Cocon® Next Arabic" panose="020A0503020102020204" pitchFamily="18" charset="-78"/>
                <a:cs typeface="Cocon® Next Arabic" panose="020A0503020102020204" pitchFamily="18" charset="-78"/>
              </a:rPr>
              <a:t>2026 </a:t>
            </a:r>
            <a:r>
              <a:rPr lang="ar-SY" sz="2400" b="1" kern="1200">
                <a:solidFill>
                  <a:srgbClr val="62318A"/>
                </a:solidFill>
                <a:effectLst/>
                <a:latin typeface="Cocon® Next Arabic" panose="020A0503020102020204" pitchFamily="18" charset="-78"/>
                <a:ea typeface="Cocon® Next Arabic" panose="020A0503020102020204" pitchFamily="18" charset="-78"/>
                <a:cs typeface="Cocon® Next Arabic" panose="020A0503020102020204" pitchFamily="18" charset="-78"/>
              </a:rPr>
              <a:t>/ 2027م</a:t>
            </a:r>
            <a:endParaRPr lang="en-US" sz="1200" dirty="0">
              <a:effectLst/>
              <a:latin typeface="Cocon® Next Arabic" panose="020A0503020102020204" pitchFamily="18" charset="-78"/>
              <a:ea typeface="Cocon® Next Arabic" panose="020A0503020102020204" pitchFamily="18" charset="-78"/>
              <a:cs typeface="Cocon® Next Arabic" panose="020A0503020102020204" pitchFamily="18" charset="-78"/>
            </a:endParaRPr>
          </a:p>
        </p:txBody>
      </p:sp>
      <p:sp>
        <p:nvSpPr>
          <p:cNvPr id="25" name="مستطيل 19">
            <a:extLst>
              <a:ext uri="{FF2B5EF4-FFF2-40B4-BE49-F238E27FC236}">
                <a16:creationId xmlns:a16="http://schemas.microsoft.com/office/drawing/2014/main" id="{4FCE1539-8DF9-2859-E41E-D4BCA0658511}"/>
              </a:ext>
            </a:extLst>
          </p:cNvPr>
          <p:cNvSpPr/>
          <p:nvPr/>
        </p:nvSpPr>
        <p:spPr>
          <a:xfrm>
            <a:off x="85725" y="274782"/>
            <a:ext cx="1374775" cy="1731817"/>
          </a:xfrm>
          <a:prstGeom prst="rect">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1" fromWordArt="0" anchor="ctr" anchorCtr="0" forceAA="0" compatLnSpc="1">
            <a:prstTxWarp prst="textNoShape">
              <a:avLst/>
            </a:prstTxWarp>
            <a:noAutofit/>
          </a:bodyPr>
          <a:lstStyle/>
          <a:p>
            <a:pPr marL="0" marR="0" algn="ctr" rtl="1">
              <a:lnSpc>
                <a:spcPct val="115000"/>
              </a:lnSpc>
              <a:spcBef>
                <a:spcPts val="0"/>
              </a:spcBef>
              <a:spcAft>
                <a:spcPts val="0"/>
              </a:spcAft>
            </a:pPr>
            <a:r>
              <a:rPr lang="ar-SA" sz="2000" b="1" dirty="0">
                <a:solidFill>
                  <a:schemeClr val="tx1"/>
                </a:solidFill>
                <a:latin typeface="Cocon® Next Arabic" panose="020A0503020102020204" pitchFamily="18" charset="-78"/>
                <a:ea typeface="Cocon® Next Arabic" panose="020A0503020102020204" pitchFamily="18" charset="-78"/>
                <a:cs typeface="Cocon® Next Arabic" panose="020A0503020102020204" pitchFamily="18" charset="-78"/>
              </a:rPr>
              <a:t>صورة</a:t>
            </a:r>
            <a:endParaRPr lang="en-US" sz="2000" b="1">
              <a:solidFill>
                <a:schemeClr val="tx1"/>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ctr" rtl="1">
              <a:lnSpc>
                <a:spcPct val="115000"/>
              </a:lnSpc>
              <a:spcBef>
                <a:spcPts val="0"/>
              </a:spcBef>
              <a:spcAft>
                <a:spcPts val="0"/>
              </a:spcAft>
            </a:pPr>
            <a:r>
              <a:rPr lang="ar-SA" sz="2000" b="1">
                <a:solidFill>
                  <a:schemeClr val="tx1"/>
                </a:solidFill>
                <a:latin typeface="Cocon® Next Arabic" panose="020A0503020102020204" pitchFamily="18" charset="-78"/>
                <a:ea typeface="Cocon® Next Arabic" panose="020A0503020102020204" pitchFamily="18" charset="-78"/>
                <a:cs typeface="Cocon® Next Arabic" panose="020A0503020102020204" pitchFamily="18" charset="-78"/>
              </a:rPr>
              <a:t>الطالب/ة</a:t>
            </a:r>
            <a:endParaRPr lang="en-US" sz="2000" b="1" dirty="0">
              <a:solidFill>
                <a:schemeClr val="tx1"/>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cxnSp>
        <p:nvCxnSpPr>
          <p:cNvPr id="27" name="Straight Connector 26">
            <a:extLst>
              <a:ext uri="{FF2B5EF4-FFF2-40B4-BE49-F238E27FC236}">
                <a16:creationId xmlns:a16="http://schemas.microsoft.com/office/drawing/2014/main" id="{C4C80C35-272F-5C74-753C-7E3A243FDD4B}"/>
              </a:ext>
            </a:extLst>
          </p:cNvPr>
          <p:cNvCxnSpPr/>
          <p:nvPr/>
        </p:nvCxnSpPr>
        <p:spPr>
          <a:xfrm>
            <a:off x="261937" y="2197100"/>
            <a:ext cx="6505575" cy="0"/>
          </a:xfrm>
          <a:prstGeom prst="line">
            <a:avLst/>
          </a:prstGeom>
          <a:ln w="22225">
            <a:solidFill>
              <a:srgbClr val="62318A"/>
            </a:solidFill>
            <a:prstDash val="lgDashDot"/>
          </a:ln>
        </p:spPr>
        <p:style>
          <a:lnRef idx="1">
            <a:schemeClr val="accent1"/>
          </a:lnRef>
          <a:fillRef idx="0">
            <a:schemeClr val="accent1"/>
          </a:fillRef>
          <a:effectRef idx="0">
            <a:schemeClr val="accent1"/>
          </a:effectRef>
          <a:fontRef idx="minor">
            <a:schemeClr val="tx1"/>
          </a:fontRef>
        </p:style>
      </p:cxnSp>
      <p:sp>
        <p:nvSpPr>
          <p:cNvPr id="32" name="Rectangle: Top Corners Rounded 31">
            <a:extLst>
              <a:ext uri="{FF2B5EF4-FFF2-40B4-BE49-F238E27FC236}">
                <a16:creationId xmlns:a16="http://schemas.microsoft.com/office/drawing/2014/main" id="{1A1FD9C2-6244-1D55-611C-6C13C0D64306}"/>
              </a:ext>
            </a:extLst>
          </p:cNvPr>
          <p:cNvSpPr/>
          <p:nvPr/>
        </p:nvSpPr>
        <p:spPr>
          <a:xfrm>
            <a:off x="1003936" y="2301878"/>
            <a:ext cx="4587240" cy="250822"/>
          </a:xfrm>
          <a:prstGeom prst="round2SameRect">
            <a:avLst>
              <a:gd name="adj1" fmla="val 50000"/>
              <a:gd name="adj2" fmla="val 0"/>
            </a:avLst>
          </a:prstGeom>
          <a:solidFill>
            <a:srgbClr val="005F7C"/>
          </a:solidFill>
          <a:ln>
            <a:solidFill>
              <a:srgbClr val="005F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0EDA7369-D41F-BD2F-27DA-F8CC11109659}"/>
              </a:ext>
            </a:extLst>
          </p:cNvPr>
          <p:cNvSpPr txBox="1"/>
          <p:nvPr/>
        </p:nvSpPr>
        <p:spPr>
          <a:xfrm>
            <a:off x="1907382" y="2257242"/>
            <a:ext cx="3043236" cy="340093"/>
          </a:xfrm>
          <a:prstGeom prst="rect">
            <a:avLst/>
          </a:prstGeom>
          <a:noFill/>
        </p:spPr>
        <p:txBody>
          <a:bodyPr wrap="square">
            <a:spAutoFit/>
          </a:bodyPr>
          <a:lstStyle/>
          <a:p>
            <a:pPr marL="0" marR="0" indent="88900" algn="r" rtl="1">
              <a:lnSpc>
                <a:spcPct val="115000"/>
              </a:lnSpc>
              <a:spcBef>
                <a:spcPts val="0"/>
              </a:spcBef>
              <a:spcAft>
                <a:spcPts val="0"/>
              </a:spcAft>
            </a:pPr>
            <a:r>
              <a:rPr lang="ar-SY" sz="1400" b="1"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rPr>
              <a:t>قسم المعلومات الشخصية عن الطالب/ة:</a:t>
            </a:r>
            <a:endParaRPr lang="en-US" sz="1400" b="1"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graphicFrame>
        <p:nvGraphicFramePr>
          <p:cNvPr id="37" name="Table 36">
            <a:extLst>
              <a:ext uri="{FF2B5EF4-FFF2-40B4-BE49-F238E27FC236}">
                <a16:creationId xmlns:a16="http://schemas.microsoft.com/office/drawing/2014/main" id="{FD8673A0-D765-E678-6DAC-24080F7724E8}"/>
              </a:ext>
            </a:extLst>
          </p:cNvPr>
          <p:cNvGraphicFramePr>
            <a:graphicFrameLocks noGrp="1"/>
          </p:cNvGraphicFramePr>
          <p:nvPr>
            <p:extLst>
              <p:ext uri="{D42A27DB-BD31-4B8C-83A1-F6EECF244321}">
                <p14:modId xmlns:p14="http://schemas.microsoft.com/office/powerpoint/2010/main" val="1125204039"/>
              </p:ext>
            </p:extLst>
          </p:nvPr>
        </p:nvGraphicFramePr>
        <p:xfrm>
          <a:off x="85725" y="2703294"/>
          <a:ext cx="6681787" cy="1445353"/>
        </p:xfrm>
        <a:graphic>
          <a:graphicData uri="http://schemas.openxmlformats.org/drawingml/2006/table">
            <a:tbl>
              <a:tblPr rtl="1" firstRow="1" firstCol="1" bandRow="1">
                <a:tableStyleId>{2D5ABB26-0587-4C30-8999-92F81FD0307C}</a:tableStyleId>
              </a:tblPr>
              <a:tblGrid>
                <a:gridCol w="2227464">
                  <a:extLst>
                    <a:ext uri="{9D8B030D-6E8A-4147-A177-3AD203B41FA5}">
                      <a16:colId xmlns:a16="http://schemas.microsoft.com/office/drawing/2014/main" val="2108635777"/>
                    </a:ext>
                  </a:extLst>
                </a:gridCol>
                <a:gridCol w="1713200">
                  <a:extLst>
                    <a:ext uri="{9D8B030D-6E8A-4147-A177-3AD203B41FA5}">
                      <a16:colId xmlns:a16="http://schemas.microsoft.com/office/drawing/2014/main" val="2331909264"/>
                    </a:ext>
                  </a:extLst>
                </a:gridCol>
                <a:gridCol w="2741123">
                  <a:extLst>
                    <a:ext uri="{9D8B030D-6E8A-4147-A177-3AD203B41FA5}">
                      <a16:colId xmlns:a16="http://schemas.microsoft.com/office/drawing/2014/main" val="80221133"/>
                    </a:ext>
                  </a:extLst>
                </a:gridCol>
              </a:tblGrid>
              <a:tr h="370106">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الاسم والشهرة: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الجنس: ذكر </a:t>
                      </a:r>
                      <a:r>
                        <a:rPr lang="en-US" sz="8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r>
                        <a:rPr lang="en-US" sz="8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8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أثنى </a:t>
                      </a:r>
                      <a:r>
                        <a:rPr lang="en-US" sz="80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80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مكان وتاريخ الولادة:</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   ......../......../......</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00756"/>
                  </a:ext>
                </a:extLst>
              </a:tr>
              <a:tr h="341385">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مكان السكن: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هاتف أرضي: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جوال الطالب/ة: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490268"/>
                  </a:ext>
                </a:extLst>
              </a:tr>
              <a:tr h="366931">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اسم الأب: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عمل الأب: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جوال الأب: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8852240"/>
                  </a:ext>
                </a:extLst>
              </a:tr>
              <a:tr h="366931">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اسم الأم: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عمل الأم: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جوال الأم: </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A"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8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57775" marR="577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1444503"/>
                  </a:ext>
                </a:extLst>
              </a:tr>
            </a:tbl>
          </a:graphicData>
        </a:graphic>
      </p:graphicFrame>
      <p:sp>
        <p:nvSpPr>
          <p:cNvPr id="39" name="TextBox 38">
            <a:extLst>
              <a:ext uri="{FF2B5EF4-FFF2-40B4-BE49-F238E27FC236}">
                <a16:creationId xmlns:a16="http://schemas.microsoft.com/office/drawing/2014/main" id="{14AFD946-9942-2355-E9BC-232C4A908BFC}"/>
              </a:ext>
            </a:extLst>
          </p:cNvPr>
          <p:cNvSpPr txBox="1"/>
          <p:nvPr/>
        </p:nvSpPr>
        <p:spPr>
          <a:xfrm>
            <a:off x="1080611" y="4178408"/>
            <a:ext cx="4692014" cy="297774"/>
          </a:xfrm>
          <a:prstGeom prst="rect">
            <a:avLst/>
          </a:prstGeom>
          <a:noFill/>
        </p:spPr>
        <p:txBody>
          <a:bodyPr wrap="square">
            <a:spAutoFit/>
          </a:bodyPr>
          <a:lstStyle/>
          <a:p>
            <a:pPr marL="0" marR="0" indent="88900" algn="r" rtl="1">
              <a:lnSpc>
                <a:spcPct val="115000"/>
              </a:lnSpc>
              <a:spcBef>
                <a:spcPts val="0"/>
              </a:spcBef>
              <a:spcAft>
                <a:spcPts val="0"/>
              </a:spcAft>
            </a:pPr>
            <a:r>
              <a:rPr lang="ar-SY" sz="1200" b="1" dirty="0">
                <a:solidFill>
                  <a:schemeClr val="tx1">
                    <a:lumMod val="95000"/>
                    <a:lumOff val="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الرجاء وضع </a:t>
            </a:r>
            <a:r>
              <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r>
              <a:rPr lang="ar-SY" sz="1200" b="1" dirty="0">
                <a:solidFill>
                  <a:schemeClr val="tx1">
                    <a:lumMod val="95000"/>
                    <a:lumOff val="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بجانب الدورة المراد اتباعها:  </a:t>
            </a:r>
            <a:r>
              <a:rPr lang="ar-SA"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هذه الأسئلة لطلاب الثالث الثانوي</a:t>
            </a:r>
            <a:endPar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graphicFrame>
        <p:nvGraphicFramePr>
          <p:cNvPr id="41" name="Table 40">
            <a:extLst>
              <a:ext uri="{FF2B5EF4-FFF2-40B4-BE49-F238E27FC236}">
                <a16:creationId xmlns:a16="http://schemas.microsoft.com/office/drawing/2014/main" id="{932A0FC7-CCD2-C591-9D3E-801B295F54DA}"/>
              </a:ext>
            </a:extLst>
          </p:cNvPr>
          <p:cNvGraphicFramePr>
            <a:graphicFrameLocks noGrp="1"/>
          </p:cNvGraphicFramePr>
          <p:nvPr>
            <p:extLst>
              <p:ext uri="{D42A27DB-BD31-4B8C-83A1-F6EECF244321}">
                <p14:modId xmlns:p14="http://schemas.microsoft.com/office/powerpoint/2010/main" val="339597039"/>
              </p:ext>
            </p:extLst>
          </p:nvPr>
        </p:nvGraphicFramePr>
        <p:xfrm>
          <a:off x="103505" y="4583312"/>
          <a:ext cx="6646226" cy="1420844"/>
        </p:xfrm>
        <a:graphic>
          <a:graphicData uri="http://schemas.openxmlformats.org/drawingml/2006/table">
            <a:tbl>
              <a:tblPr rtl="1" firstRow="1" firstCol="1" bandRow="1">
                <a:tableStyleId>{2D5ABB26-0587-4C30-8999-92F81FD0307C}</a:tableStyleId>
              </a:tblPr>
              <a:tblGrid>
                <a:gridCol w="1737360">
                  <a:extLst>
                    <a:ext uri="{9D8B030D-6E8A-4147-A177-3AD203B41FA5}">
                      <a16:colId xmlns:a16="http://schemas.microsoft.com/office/drawing/2014/main" val="3998909438"/>
                    </a:ext>
                  </a:extLst>
                </a:gridCol>
                <a:gridCol w="365760">
                  <a:extLst>
                    <a:ext uri="{9D8B030D-6E8A-4147-A177-3AD203B41FA5}">
                      <a16:colId xmlns:a16="http://schemas.microsoft.com/office/drawing/2014/main" val="1306693998"/>
                    </a:ext>
                  </a:extLst>
                </a:gridCol>
                <a:gridCol w="182880">
                  <a:extLst>
                    <a:ext uri="{9D8B030D-6E8A-4147-A177-3AD203B41FA5}">
                      <a16:colId xmlns:a16="http://schemas.microsoft.com/office/drawing/2014/main" val="2740001593"/>
                    </a:ext>
                  </a:extLst>
                </a:gridCol>
                <a:gridCol w="1097280">
                  <a:extLst>
                    <a:ext uri="{9D8B030D-6E8A-4147-A177-3AD203B41FA5}">
                      <a16:colId xmlns:a16="http://schemas.microsoft.com/office/drawing/2014/main" val="787482612"/>
                    </a:ext>
                  </a:extLst>
                </a:gridCol>
                <a:gridCol w="611186">
                  <a:extLst>
                    <a:ext uri="{9D8B030D-6E8A-4147-A177-3AD203B41FA5}">
                      <a16:colId xmlns:a16="http://schemas.microsoft.com/office/drawing/2014/main" val="3177765104"/>
                    </a:ext>
                  </a:extLst>
                </a:gridCol>
                <a:gridCol w="365760">
                  <a:extLst>
                    <a:ext uri="{9D8B030D-6E8A-4147-A177-3AD203B41FA5}">
                      <a16:colId xmlns:a16="http://schemas.microsoft.com/office/drawing/2014/main" val="2133527902"/>
                    </a:ext>
                  </a:extLst>
                </a:gridCol>
                <a:gridCol w="182880">
                  <a:extLst>
                    <a:ext uri="{9D8B030D-6E8A-4147-A177-3AD203B41FA5}">
                      <a16:colId xmlns:a16="http://schemas.microsoft.com/office/drawing/2014/main" val="244189042"/>
                    </a:ext>
                  </a:extLst>
                </a:gridCol>
                <a:gridCol w="1737360">
                  <a:extLst>
                    <a:ext uri="{9D8B030D-6E8A-4147-A177-3AD203B41FA5}">
                      <a16:colId xmlns:a16="http://schemas.microsoft.com/office/drawing/2014/main" val="318647872"/>
                    </a:ext>
                  </a:extLst>
                </a:gridCol>
                <a:gridCol w="365760">
                  <a:extLst>
                    <a:ext uri="{9D8B030D-6E8A-4147-A177-3AD203B41FA5}">
                      <a16:colId xmlns:a16="http://schemas.microsoft.com/office/drawing/2014/main" val="949250123"/>
                    </a:ext>
                  </a:extLst>
                </a:gridCol>
              </a:tblGrid>
              <a:tr h="216528">
                <a:tc>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علمي "</a:t>
                      </a: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مستمع</a:t>
                      </a: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أدبي "</a:t>
                      </a: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مستمع</a:t>
                      </a: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يحتاج ترشيحي</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774284"/>
                  </a:ext>
                </a:extLst>
              </a:tr>
              <a:tr h="216528">
                <a:tc>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علمي "</a:t>
                      </a: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مستجد</a:t>
                      </a: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gridSpan="2">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أدبي "</a:t>
                      </a: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مستجد</a:t>
                      </a: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لا يحتاج ترشيحي</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830899"/>
                  </a:ext>
                </a:extLst>
              </a:tr>
              <a:tr h="270881">
                <a:tc>
                  <a:txBody>
                    <a:bodyPr/>
                    <a:lstStyle/>
                    <a:p>
                      <a:pPr marL="0" marR="0" indent="88900" algn="r" defTabSz="457200" rtl="1" eaLnBrk="1" latinLnBrk="0" hangingPunct="1">
                        <a:lnSpc>
                          <a:spcPct val="115000"/>
                        </a:lnSpc>
                        <a:spcBef>
                          <a:spcPts val="0"/>
                        </a:spcBef>
                        <a:spcAft>
                          <a:spcPts val="0"/>
                        </a:spcAft>
                      </a:pPr>
                      <a:r>
                        <a:rPr lang="ar-SA"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علمي "</a:t>
                      </a:r>
                      <a:r>
                        <a:rPr lang="ar-SY"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راسب ويعيد</a:t>
                      </a:r>
                      <a:r>
                        <a:rPr lang="ar-SA"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gridSpan="2">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أدبي "</a:t>
                      </a: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راسب ويعيد</a:t>
                      </a: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ar-SA"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مسجل في مدرسة</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3905630"/>
                  </a:ext>
                </a:extLst>
              </a:tr>
              <a:tr h="243705">
                <a:tc>
                  <a:txBody>
                    <a:bodyPr/>
                    <a:lstStyle/>
                    <a:p>
                      <a:pPr marL="0" marR="0" indent="88900" algn="r" defTabSz="457200" rtl="1" eaLnBrk="1" latinLnBrk="0" hangingPunct="1">
                        <a:lnSpc>
                          <a:spcPct val="115000"/>
                        </a:lnSpc>
                        <a:spcBef>
                          <a:spcPts val="0"/>
                        </a:spcBef>
                        <a:spcAft>
                          <a:spcPts val="0"/>
                        </a:spcAft>
                      </a:pPr>
                      <a:r>
                        <a:rPr lang="ar-SA"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علمي "</a:t>
                      </a:r>
                      <a:r>
                        <a:rPr lang="ar-SY"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ناجح ويعيد</a:t>
                      </a:r>
                      <a:r>
                        <a:rPr lang="ar-SA"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gridSpan="2">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ثالث ثانوي أدبي "</a:t>
                      </a: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ناجح ويعيد</a:t>
                      </a: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a:txBody>
                    <a:bodyPr/>
                    <a:lstStyle/>
                    <a:p>
                      <a:pPr marL="0" marR="0" indent="88900" algn="r" defTabSz="457200" rtl="1" eaLnBrk="1" latinLnBrk="0" hangingPunct="1">
                        <a:lnSpc>
                          <a:spcPct val="115000"/>
                        </a:lnSpc>
                        <a:spcBef>
                          <a:spcPts val="0"/>
                        </a:spcBef>
                        <a:spcAft>
                          <a:spcPts val="0"/>
                        </a:spcAft>
                      </a:pPr>
                      <a:r>
                        <a:rPr lang="ar-SA"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غير مسجل في مدرسة</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577145"/>
                  </a:ext>
                </a:extLst>
              </a:tr>
              <a:tr h="355346">
                <a:tc gridSpan="4">
                  <a:txBody>
                    <a:bodyPr/>
                    <a:lstStyle/>
                    <a:p>
                      <a:pPr marL="0" marR="0" indent="88900" algn="r" defTabSz="457200" rtl="1" eaLnBrk="1" latinLnBrk="0" hangingPunct="1">
                        <a:lnSpc>
                          <a:spcPct val="115000"/>
                        </a:lnSpc>
                        <a:spcBef>
                          <a:spcPts val="0"/>
                        </a:spcBef>
                        <a:spcAft>
                          <a:spcPts val="0"/>
                        </a:spcAft>
                      </a:pPr>
                      <a:r>
                        <a:rPr lang="ar-SY" sz="90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المدرسة القادم منها: </a:t>
                      </a:r>
                      <a:r>
                        <a:rPr lang="en-US" sz="90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a:t>
                      </a: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marL="0" marR="0" indent="88900" algn="r" defTabSz="457200" rtl="1" eaLnBrk="1" latinLnBrk="0" hangingPunct="1">
                        <a:lnSpc>
                          <a:spcPct val="115000"/>
                        </a:lnSpc>
                        <a:spcBef>
                          <a:spcPts val="0"/>
                        </a:spcBef>
                        <a:spcAft>
                          <a:spcPts val="0"/>
                        </a:spcAft>
                      </a:pPr>
                      <a:endParaRPr lang="ar-SY" sz="9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indent="88900" algn="r" defTabSz="457200" rtl="1" eaLnBrk="1" latinLnBrk="0" hangingPunct="1">
                        <a:lnSpc>
                          <a:spcPct val="115000"/>
                        </a:lnSpc>
                        <a:spcBef>
                          <a:spcPts val="0"/>
                        </a:spcBef>
                        <a:spcAft>
                          <a:spcPts val="0"/>
                        </a:spcAft>
                      </a:pPr>
                      <a:r>
                        <a:rPr lang="ar-SY" sz="9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مجموع التاسع: </a:t>
                      </a:r>
                      <a:r>
                        <a:rPr lang="en-US" sz="9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ar-SY" sz="9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indent="88900" algn="r" defTabSz="457200" rtl="1" eaLnBrk="1" latinLnBrk="0" hangingPunct="1">
                        <a:lnSpc>
                          <a:spcPct val="115000"/>
                        </a:lnSpc>
                        <a:spcBef>
                          <a:spcPts val="0"/>
                        </a:spcBef>
                        <a:spcAft>
                          <a:spcPts val="0"/>
                        </a:spcAft>
                      </a:pPr>
                      <a:endParaRPr lang="en-US" sz="90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60714888"/>
                  </a:ext>
                </a:extLst>
              </a:tr>
            </a:tbl>
          </a:graphicData>
        </a:graphic>
      </p:graphicFrame>
      <p:sp>
        <p:nvSpPr>
          <p:cNvPr id="44" name="TextBox 43">
            <a:extLst>
              <a:ext uri="{FF2B5EF4-FFF2-40B4-BE49-F238E27FC236}">
                <a16:creationId xmlns:a16="http://schemas.microsoft.com/office/drawing/2014/main" id="{33DB3217-06AD-9C2D-BA57-101BEF28BDFE}"/>
              </a:ext>
            </a:extLst>
          </p:cNvPr>
          <p:cNvSpPr txBox="1"/>
          <p:nvPr/>
        </p:nvSpPr>
        <p:spPr>
          <a:xfrm>
            <a:off x="1318418" y="6111286"/>
            <a:ext cx="4216400" cy="297774"/>
          </a:xfrm>
          <a:prstGeom prst="rect">
            <a:avLst/>
          </a:prstGeom>
          <a:noFill/>
        </p:spPr>
        <p:txBody>
          <a:bodyPr wrap="square">
            <a:spAutoFit/>
          </a:bodyPr>
          <a:lstStyle/>
          <a:p>
            <a:pPr marL="0" marR="0" indent="88900" algn="r" rtl="1">
              <a:lnSpc>
                <a:spcPct val="115000"/>
              </a:lnSpc>
              <a:spcBef>
                <a:spcPts val="0"/>
              </a:spcBef>
              <a:spcAft>
                <a:spcPts val="0"/>
              </a:spcAft>
            </a:pPr>
            <a:r>
              <a:rPr lang="ar-SY" sz="1200" b="1" dirty="0">
                <a:solidFill>
                  <a:schemeClr val="tx1">
                    <a:lumMod val="95000"/>
                    <a:lumOff val="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الرجاء وضع </a:t>
            </a:r>
            <a:r>
              <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r>
              <a:rPr lang="ar-SY" sz="1200" b="1" dirty="0">
                <a:solidFill>
                  <a:schemeClr val="tx1">
                    <a:lumMod val="95000"/>
                    <a:lumOff val="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بجانب الإجابة الصحيحة:  </a:t>
            </a:r>
            <a:r>
              <a:rPr lang="ar-SY"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كيف تم الوصول إلى معهدنا</a:t>
            </a:r>
            <a:endPar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graphicFrame>
        <p:nvGraphicFramePr>
          <p:cNvPr id="45" name="Table 44">
            <a:extLst>
              <a:ext uri="{FF2B5EF4-FFF2-40B4-BE49-F238E27FC236}">
                <a16:creationId xmlns:a16="http://schemas.microsoft.com/office/drawing/2014/main" id="{05AD893D-B0AF-2E2A-CDBC-5C304AD48F00}"/>
              </a:ext>
            </a:extLst>
          </p:cNvPr>
          <p:cNvGraphicFramePr>
            <a:graphicFrameLocks noGrp="1"/>
          </p:cNvGraphicFramePr>
          <p:nvPr>
            <p:extLst>
              <p:ext uri="{D42A27DB-BD31-4B8C-83A1-F6EECF244321}">
                <p14:modId xmlns:p14="http://schemas.microsoft.com/office/powerpoint/2010/main" val="3789213711"/>
              </p:ext>
            </p:extLst>
          </p:nvPr>
        </p:nvGraphicFramePr>
        <p:xfrm>
          <a:off x="103504" y="6516189"/>
          <a:ext cx="6639559" cy="853321"/>
        </p:xfrm>
        <a:graphic>
          <a:graphicData uri="http://schemas.openxmlformats.org/drawingml/2006/table">
            <a:tbl>
              <a:tblPr rtl="1" firstRow="1" firstCol="1" bandRow="1">
                <a:tableStyleId>{2D5ABB26-0587-4C30-8999-92F81FD0307C}</a:tableStyleId>
              </a:tblPr>
              <a:tblGrid>
                <a:gridCol w="1283036">
                  <a:extLst>
                    <a:ext uri="{9D8B030D-6E8A-4147-A177-3AD203B41FA5}">
                      <a16:colId xmlns:a16="http://schemas.microsoft.com/office/drawing/2014/main" val="3998909438"/>
                    </a:ext>
                  </a:extLst>
                </a:gridCol>
                <a:gridCol w="325076">
                  <a:extLst>
                    <a:ext uri="{9D8B030D-6E8A-4147-A177-3AD203B41FA5}">
                      <a16:colId xmlns:a16="http://schemas.microsoft.com/office/drawing/2014/main" val="1306693998"/>
                    </a:ext>
                  </a:extLst>
                </a:gridCol>
                <a:gridCol w="1494341">
                  <a:extLst>
                    <a:ext uri="{9D8B030D-6E8A-4147-A177-3AD203B41FA5}">
                      <a16:colId xmlns:a16="http://schemas.microsoft.com/office/drawing/2014/main" val="787482612"/>
                    </a:ext>
                  </a:extLst>
                </a:gridCol>
                <a:gridCol w="323678">
                  <a:extLst>
                    <a:ext uri="{9D8B030D-6E8A-4147-A177-3AD203B41FA5}">
                      <a16:colId xmlns:a16="http://schemas.microsoft.com/office/drawing/2014/main" val="2133527902"/>
                    </a:ext>
                  </a:extLst>
                </a:gridCol>
                <a:gridCol w="1283036">
                  <a:extLst>
                    <a:ext uri="{9D8B030D-6E8A-4147-A177-3AD203B41FA5}">
                      <a16:colId xmlns:a16="http://schemas.microsoft.com/office/drawing/2014/main" val="3331323419"/>
                    </a:ext>
                  </a:extLst>
                </a:gridCol>
                <a:gridCol w="323678">
                  <a:extLst>
                    <a:ext uri="{9D8B030D-6E8A-4147-A177-3AD203B41FA5}">
                      <a16:colId xmlns:a16="http://schemas.microsoft.com/office/drawing/2014/main" val="1881807879"/>
                    </a:ext>
                  </a:extLst>
                </a:gridCol>
                <a:gridCol w="1283036">
                  <a:extLst>
                    <a:ext uri="{9D8B030D-6E8A-4147-A177-3AD203B41FA5}">
                      <a16:colId xmlns:a16="http://schemas.microsoft.com/office/drawing/2014/main" val="318647872"/>
                    </a:ext>
                  </a:extLst>
                </a:gridCol>
                <a:gridCol w="323678">
                  <a:extLst>
                    <a:ext uri="{9D8B030D-6E8A-4147-A177-3AD203B41FA5}">
                      <a16:colId xmlns:a16="http://schemas.microsoft.com/office/drawing/2014/main" val="949250123"/>
                    </a:ext>
                  </a:extLst>
                </a:gridCol>
              </a:tblGrid>
              <a:tr h="253246">
                <a:tc>
                  <a:txBody>
                    <a:bodyPr/>
                    <a:lstStyle/>
                    <a:p>
                      <a:pPr marL="0" marR="0" indent="88900" algn="ctr" defTabSz="457200" rtl="1" eaLnBrk="1" latinLnBrk="0" hangingPunct="1">
                        <a:lnSpc>
                          <a:spcPct val="115000"/>
                        </a:lnSpc>
                        <a:spcBef>
                          <a:spcPts val="0"/>
                        </a:spcBef>
                        <a:spcAft>
                          <a:spcPts val="0"/>
                        </a:spcAft>
                      </a:pPr>
                      <a:r>
                        <a:rPr lang="ar-SY" sz="1000" b="1" kern="1200" dirty="0" err="1">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سوشل</a:t>
                      </a:r>
                      <a:r>
                        <a:rPr lang="ar-SY" sz="10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ميديا</a:t>
                      </a:r>
                      <a:endParaRPr lang="en-US" sz="10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ctr" defTabSz="457200" rtl="1" eaLnBrk="1" latinLnBrk="0" hangingPunct="1">
                        <a:lnSpc>
                          <a:spcPct val="115000"/>
                        </a:lnSpc>
                        <a:spcBef>
                          <a:spcPts val="0"/>
                        </a:spcBef>
                        <a:spcAft>
                          <a:spcPts val="0"/>
                        </a:spcAft>
                      </a:pPr>
                      <a:r>
                        <a:rPr lang="ar-SY" sz="10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أحد الأصدقاء</a:t>
                      </a:r>
                      <a:endParaRPr lang="en-US" sz="10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88900" algn="r" defTabSz="457200" rtl="1" eaLnBrk="1" fontAlgn="auto" latinLnBrk="0" hangingPunct="1">
                        <a:lnSpc>
                          <a:spcPct val="115000"/>
                        </a:lnSpc>
                        <a:spcBef>
                          <a:spcPts val="0"/>
                        </a:spcBef>
                        <a:spcAft>
                          <a:spcPts val="0"/>
                        </a:spcAft>
                        <a:buClrTx/>
                        <a:buSzTx/>
                        <a:buFontTx/>
                        <a:buNone/>
                        <a:tabLst/>
                        <a:defRPr/>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88900" algn="ctr" defTabSz="457200" rtl="1" eaLnBrk="1" fontAlgn="auto" latinLnBrk="0" hangingPunct="1">
                        <a:lnSpc>
                          <a:spcPct val="115000"/>
                        </a:lnSpc>
                        <a:spcBef>
                          <a:spcPts val="0"/>
                        </a:spcBef>
                        <a:spcAft>
                          <a:spcPts val="0"/>
                        </a:spcAft>
                        <a:buClrTx/>
                        <a:buSzTx/>
                        <a:buFontTx/>
                        <a:buNone/>
                        <a:tabLst/>
                        <a:defRPr/>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مقابلة تلفزيونية</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ctr" defTabSz="457200" rtl="1" eaLnBrk="1" latinLnBrk="0" hangingPunct="1">
                        <a:lnSpc>
                          <a:spcPct val="115000"/>
                        </a:lnSpc>
                        <a:spcBef>
                          <a:spcPts val="0"/>
                        </a:spcBef>
                        <a:spcAft>
                          <a:spcPts val="0"/>
                        </a:spcAft>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إعلانات طرقية</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88900" algn="r" defTabSz="457200" rtl="1" eaLnBrk="1" latinLnBrk="0" hangingPunct="1">
                        <a:lnSpc>
                          <a:spcPct val="115000"/>
                        </a:lnSpc>
                        <a:spcBef>
                          <a:spcPts val="0"/>
                        </a:spcBef>
                        <a:spcAft>
                          <a:spcPts val="0"/>
                        </a:spcAft>
                      </a:pPr>
                      <a:r>
                        <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774284"/>
                  </a:ext>
                </a:extLst>
              </a:tr>
              <a:tr h="472153">
                <a:tc gridSpan="8">
                  <a:txBody>
                    <a:bodyPr/>
                    <a:lstStyle/>
                    <a:p>
                      <a:pPr marL="0" marR="0" indent="88900" algn="ctr" defTabSz="457200" rtl="1" eaLnBrk="1" latinLnBrk="0" hangingPunct="1">
                        <a:lnSpc>
                          <a:spcPct val="150000"/>
                        </a:lnSpc>
                        <a:spcBef>
                          <a:spcPts val="0"/>
                        </a:spcBef>
                        <a:spcAft>
                          <a:spcPts val="0"/>
                        </a:spcAft>
                      </a:pPr>
                      <a:endParaRPr lang="ar-SY" sz="90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indent="88900" algn="ctr" defTabSz="457200" rtl="1" eaLnBrk="1" latinLnBrk="0" hangingPunct="1">
                        <a:lnSpc>
                          <a:spcPct val="150000"/>
                        </a:lnSpc>
                        <a:spcBef>
                          <a:spcPts val="0"/>
                        </a:spcBef>
                        <a:spcAft>
                          <a:spcPts val="0"/>
                        </a:spcAft>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غير ذلك :..................................................................................................................................................................................</a:t>
                      </a:r>
                      <a:b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br>
                      <a:endPar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3460714888"/>
                  </a:ext>
                </a:extLst>
              </a:tr>
            </a:tbl>
          </a:graphicData>
        </a:graphic>
      </p:graphicFrame>
      <p:sp>
        <p:nvSpPr>
          <p:cNvPr id="46" name="TextBox 45">
            <a:extLst>
              <a:ext uri="{FF2B5EF4-FFF2-40B4-BE49-F238E27FC236}">
                <a16:creationId xmlns:a16="http://schemas.microsoft.com/office/drawing/2014/main" id="{8F2E4B11-8A61-5522-E7F3-D1B163861A1F}"/>
              </a:ext>
            </a:extLst>
          </p:cNvPr>
          <p:cNvSpPr txBox="1"/>
          <p:nvPr/>
        </p:nvSpPr>
        <p:spPr>
          <a:xfrm>
            <a:off x="2925128" y="7451772"/>
            <a:ext cx="3002280" cy="304699"/>
          </a:xfrm>
          <a:prstGeom prst="rect">
            <a:avLst/>
          </a:prstGeom>
          <a:noFill/>
        </p:spPr>
        <p:txBody>
          <a:bodyPr wrap="square">
            <a:spAutoFit/>
          </a:bodyPr>
          <a:lstStyle/>
          <a:p>
            <a:pPr marL="0" marR="0" indent="88900" algn="r" rtl="1">
              <a:lnSpc>
                <a:spcPct val="115000"/>
              </a:lnSpc>
              <a:spcBef>
                <a:spcPts val="0"/>
              </a:spcBef>
              <a:spcAft>
                <a:spcPts val="0"/>
              </a:spcAft>
            </a:pPr>
            <a:r>
              <a:rPr lang="ar-SY" sz="1200" b="1" dirty="0">
                <a:solidFill>
                  <a:schemeClr val="tx1">
                    <a:lumMod val="95000"/>
                    <a:lumOff val="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هل لدى الطالب حالة مرضية مزمنة </a:t>
            </a:r>
            <a:r>
              <a:rPr lang="ar-SY"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(إن وجدت)</a:t>
            </a:r>
            <a:endPar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pic>
        <p:nvPicPr>
          <p:cNvPr id="48" name="Graphic 47">
            <a:extLst>
              <a:ext uri="{FF2B5EF4-FFF2-40B4-BE49-F238E27FC236}">
                <a16:creationId xmlns:a16="http://schemas.microsoft.com/office/drawing/2014/main" id="{FDD5653E-3592-5B8A-0651-1FB9902681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85725" y="9740614"/>
            <a:ext cx="3429000" cy="165386"/>
          </a:xfrm>
          <a:prstGeom prst="rect">
            <a:avLst/>
          </a:prstGeom>
        </p:spPr>
      </p:pic>
      <p:pic>
        <p:nvPicPr>
          <p:cNvPr id="49" name="Graphic 48">
            <a:extLst>
              <a:ext uri="{FF2B5EF4-FFF2-40B4-BE49-F238E27FC236}">
                <a16:creationId xmlns:a16="http://schemas.microsoft.com/office/drawing/2014/main" id="{A130BA2E-0F7C-7CC7-5FA1-2E782481D9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flipV="1">
            <a:off x="3429000" y="9740614"/>
            <a:ext cx="3429000" cy="165386"/>
          </a:xfrm>
          <a:prstGeom prst="rect">
            <a:avLst/>
          </a:prstGeom>
        </p:spPr>
      </p:pic>
      <p:pic>
        <p:nvPicPr>
          <p:cNvPr id="51" name="Graphic 50">
            <a:extLst>
              <a:ext uri="{FF2B5EF4-FFF2-40B4-BE49-F238E27FC236}">
                <a16:creationId xmlns:a16="http://schemas.microsoft.com/office/drawing/2014/main" id="{44E3C989-3045-4EFB-B43F-0910795ADA0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087" y="7389269"/>
            <a:ext cx="2266950" cy="2266950"/>
          </a:xfrm>
          <a:prstGeom prst="rect">
            <a:avLst/>
          </a:prstGeom>
        </p:spPr>
      </p:pic>
      <p:graphicFrame>
        <p:nvGraphicFramePr>
          <p:cNvPr id="52" name="Table 51">
            <a:extLst>
              <a:ext uri="{FF2B5EF4-FFF2-40B4-BE49-F238E27FC236}">
                <a16:creationId xmlns:a16="http://schemas.microsoft.com/office/drawing/2014/main" id="{B2B1098D-F600-D5F4-C9FB-E994BBBC2FFB}"/>
              </a:ext>
            </a:extLst>
          </p:cNvPr>
          <p:cNvGraphicFramePr>
            <a:graphicFrameLocks noGrp="1"/>
          </p:cNvGraphicFramePr>
          <p:nvPr>
            <p:extLst>
              <p:ext uri="{D42A27DB-BD31-4B8C-83A1-F6EECF244321}">
                <p14:modId xmlns:p14="http://schemas.microsoft.com/office/powerpoint/2010/main" val="3985753913"/>
              </p:ext>
            </p:extLst>
          </p:nvPr>
        </p:nvGraphicFramePr>
        <p:xfrm>
          <a:off x="2235676" y="7829100"/>
          <a:ext cx="4399914" cy="1264620"/>
        </p:xfrm>
        <a:graphic>
          <a:graphicData uri="http://schemas.openxmlformats.org/drawingml/2006/table">
            <a:tbl>
              <a:tblPr rtl="1" firstRow="1" firstCol="1" bandRow="1">
                <a:tableStyleId>{2D5ABB26-0587-4C30-8999-92F81FD0307C}</a:tableStyleId>
              </a:tblPr>
              <a:tblGrid>
                <a:gridCol w="1164878">
                  <a:extLst>
                    <a:ext uri="{9D8B030D-6E8A-4147-A177-3AD203B41FA5}">
                      <a16:colId xmlns:a16="http://schemas.microsoft.com/office/drawing/2014/main" val="3998909438"/>
                    </a:ext>
                  </a:extLst>
                </a:gridCol>
                <a:gridCol w="3235036">
                  <a:extLst>
                    <a:ext uri="{9D8B030D-6E8A-4147-A177-3AD203B41FA5}">
                      <a16:colId xmlns:a16="http://schemas.microsoft.com/office/drawing/2014/main" val="1306693998"/>
                    </a:ext>
                  </a:extLst>
                </a:gridCol>
              </a:tblGrid>
              <a:tr h="304700">
                <a:tc>
                  <a:txBody>
                    <a:bodyPr/>
                    <a:lstStyle/>
                    <a:p>
                      <a:pPr marL="0" marR="0" indent="88900" algn="ctr" defTabSz="457200" rtl="1" eaLnBrk="1" latinLnBrk="0" hangingPunct="1">
                        <a:lnSpc>
                          <a:spcPct val="115000"/>
                        </a:lnSpc>
                        <a:spcBef>
                          <a:spcPts val="0"/>
                        </a:spcBef>
                        <a:spcAft>
                          <a:spcPts val="0"/>
                        </a:spcAft>
                      </a:pPr>
                      <a:r>
                        <a:rPr lang="ar-SY"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rPr>
                        <a:t>نوع/ اسم المرض</a:t>
                      </a:r>
                      <a:endParaRPr lang="en-US"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318A"/>
                    </a:solidFill>
                  </a:tcPr>
                </a:tc>
                <a:tc>
                  <a:txBody>
                    <a:bodyPr/>
                    <a:lstStyle/>
                    <a:p>
                      <a:pPr marL="0" marR="0" indent="88900" algn="ctr" defTabSz="457200" rtl="1" eaLnBrk="1" latinLnBrk="0" hangingPunct="1">
                        <a:lnSpc>
                          <a:spcPct val="115000"/>
                        </a:lnSpc>
                        <a:spcBef>
                          <a:spcPts val="0"/>
                        </a:spcBef>
                        <a:spcAft>
                          <a:spcPts val="0"/>
                        </a:spcAft>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774284"/>
                  </a:ext>
                </a:extLst>
              </a:tr>
              <a:tr h="304700">
                <a:tc>
                  <a:txBody>
                    <a:bodyPr/>
                    <a:lstStyle/>
                    <a:p>
                      <a:pPr marL="0" marR="0" indent="88900" algn="ctr" defTabSz="457200" rtl="1" eaLnBrk="1" latinLnBrk="0" hangingPunct="1">
                        <a:lnSpc>
                          <a:spcPct val="115000"/>
                        </a:lnSpc>
                        <a:spcBef>
                          <a:spcPts val="0"/>
                        </a:spcBef>
                        <a:spcAft>
                          <a:spcPts val="0"/>
                        </a:spcAft>
                      </a:pPr>
                      <a:r>
                        <a:rPr lang="ar-SY"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rPr>
                        <a:t>أعراض المرض</a:t>
                      </a:r>
                      <a:endParaRPr lang="en-US"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F7C"/>
                    </a:solidFill>
                  </a:tcPr>
                </a:tc>
                <a:tc>
                  <a:txBody>
                    <a:bodyPr/>
                    <a:lstStyle/>
                    <a:p>
                      <a:pPr marL="0" marR="0" lvl="0" indent="88900" algn="ctr" defTabSz="457200" rtl="1" eaLnBrk="1" fontAlgn="auto" latinLnBrk="0" hangingPunct="1">
                        <a:lnSpc>
                          <a:spcPct val="150000"/>
                        </a:lnSpc>
                        <a:spcBef>
                          <a:spcPts val="0"/>
                        </a:spcBef>
                        <a:spcAft>
                          <a:spcPts val="0"/>
                        </a:spcAft>
                        <a:buClrTx/>
                        <a:buSzTx/>
                        <a:buFontTx/>
                        <a:buNone/>
                        <a:tabLst/>
                        <a:defRPr/>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4607577"/>
                  </a:ext>
                </a:extLst>
              </a:tr>
              <a:tr h="304700">
                <a:tc>
                  <a:txBody>
                    <a:bodyPr/>
                    <a:lstStyle/>
                    <a:p>
                      <a:pPr marL="0" marR="0" indent="88900" algn="ctr" defTabSz="457200" rtl="1" eaLnBrk="1" latinLnBrk="0" hangingPunct="1">
                        <a:lnSpc>
                          <a:spcPct val="115000"/>
                        </a:lnSpc>
                        <a:spcBef>
                          <a:spcPts val="0"/>
                        </a:spcBef>
                        <a:spcAft>
                          <a:spcPts val="0"/>
                        </a:spcAft>
                      </a:pPr>
                      <a:r>
                        <a:rPr lang="ar-SY"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rPr>
                        <a:t>كيفية التعامل مع المريض </a:t>
                      </a:r>
                      <a:endParaRPr lang="en-US"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318A"/>
                    </a:solidFill>
                  </a:tcPr>
                </a:tc>
                <a:tc>
                  <a:txBody>
                    <a:bodyPr/>
                    <a:lstStyle/>
                    <a:p>
                      <a:pPr marL="0" marR="0" lvl="0" indent="88900" algn="ctr" defTabSz="457200" rtl="1" eaLnBrk="1" fontAlgn="auto" latinLnBrk="0" hangingPunct="1">
                        <a:lnSpc>
                          <a:spcPct val="150000"/>
                        </a:lnSpc>
                        <a:spcBef>
                          <a:spcPts val="0"/>
                        </a:spcBef>
                        <a:spcAft>
                          <a:spcPts val="0"/>
                        </a:spcAft>
                        <a:buClrTx/>
                        <a:buSzTx/>
                        <a:buFontTx/>
                        <a:buNone/>
                        <a:tabLst/>
                        <a:defRPr/>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101063"/>
                  </a:ext>
                </a:extLst>
              </a:tr>
              <a:tr h="304700">
                <a:tc>
                  <a:txBody>
                    <a:bodyPr/>
                    <a:lstStyle/>
                    <a:p>
                      <a:pPr marL="0" marR="0" indent="88900" algn="ctr" defTabSz="457200" rtl="1" eaLnBrk="1" latinLnBrk="0" hangingPunct="1">
                        <a:lnSpc>
                          <a:spcPct val="115000"/>
                        </a:lnSpc>
                        <a:spcBef>
                          <a:spcPts val="0"/>
                        </a:spcBef>
                        <a:spcAft>
                          <a:spcPts val="0"/>
                        </a:spcAft>
                      </a:pPr>
                      <a:r>
                        <a:rPr lang="ar-SY"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rPr>
                        <a:t>رقم تواصل للطوارئ</a:t>
                      </a:r>
                      <a:endParaRPr lang="en-US" sz="1000" b="1" kern="1200"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5F7C"/>
                    </a:solidFill>
                  </a:tcPr>
                </a:tc>
                <a:tc>
                  <a:txBody>
                    <a:bodyPr/>
                    <a:lstStyle/>
                    <a:p>
                      <a:pPr marL="0" marR="0" lvl="0" indent="88900" algn="ctr" defTabSz="457200" rtl="1" eaLnBrk="1" fontAlgn="auto" latinLnBrk="0" hangingPunct="1">
                        <a:lnSpc>
                          <a:spcPct val="150000"/>
                        </a:lnSpc>
                        <a:spcBef>
                          <a:spcPts val="0"/>
                        </a:spcBef>
                        <a:spcAft>
                          <a:spcPts val="0"/>
                        </a:spcAft>
                        <a:buClrTx/>
                        <a:buSzTx/>
                        <a:buFontTx/>
                        <a:buNone/>
                        <a:tabLst/>
                        <a:defRPr/>
                      </a:pPr>
                      <a:r>
                        <a:rPr lang="ar-SY"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sym typeface="Wingdings" panose="05000000000000000000" pitchFamily="2" charset="2"/>
                        </a:rPr>
                        <a:t>……………………………………………………………………………………</a:t>
                      </a: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26186" marR="261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8824865"/>
                  </a:ext>
                </a:extLst>
              </a:tr>
            </a:tbl>
          </a:graphicData>
        </a:graphic>
      </p:graphicFrame>
      <p:sp>
        <p:nvSpPr>
          <p:cNvPr id="54" name="TextBox 53">
            <a:extLst>
              <a:ext uri="{FF2B5EF4-FFF2-40B4-BE49-F238E27FC236}">
                <a16:creationId xmlns:a16="http://schemas.microsoft.com/office/drawing/2014/main" id="{5F740478-F72B-5343-5EF6-FB8D9EEBD3C1}"/>
              </a:ext>
            </a:extLst>
          </p:cNvPr>
          <p:cNvSpPr txBox="1"/>
          <p:nvPr/>
        </p:nvSpPr>
        <p:spPr>
          <a:xfrm>
            <a:off x="2903220" y="9296294"/>
            <a:ext cx="3177540" cy="304699"/>
          </a:xfrm>
          <a:prstGeom prst="rect">
            <a:avLst/>
          </a:prstGeom>
          <a:noFill/>
        </p:spPr>
        <p:txBody>
          <a:bodyPr wrap="square">
            <a:spAutoFit/>
          </a:bodyPr>
          <a:lstStyle/>
          <a:p>
            <a:pPr marL="0" marR="0" indent="88900" algn="r" rtl="1">
              <a:lnSpc>
                <a:spcPct val="115000"/>
              </a:lnSpc>
              <a:spcBef>
                <a:spcPts val="0"/>
              </a:spcBef>
              <a:spcAft>
                <a:spcPts val="0"/>
              </a:spcAft>
            </a:pPr>
            <a:r>
              <a:rPr lang="ar-SY"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انتهى قسم المعلومات الشخصية شاكرين تعاونكم</a:t>
            </a:r>
            <a:endPar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sp>
        <p:nvSpPr>
          <p:cNvPr id="55" name="Oval 54">
            <a:extLst>
              <a:ext uri="{FF2B5EF4-FFF2-40B4-BE49-F238E27FC236}">
                <a16:creationId xmlns:a16="http://schemas.microsoft.com/office/drawing/2014/main" id="{C5CE428D-A515-C594-80AC-F6D198DB1896}"/>
              </a:ext>
            </a:extLst>
          </p:cNvPr>
          <p:cNvSpPr/>
          <p:nvPr/>
        </p:nvSpPr>
        <p:spPr>
          <a:xfrm>
            <a:off x="5964555" y="9417843"/>
            <a:ext cx="67151" cy="67151"/>
          </a:xfrm>
          <a:prstGeom prst="ellipse">
            <a:avLst/>
          </a:prstGeom>
          <a:solidFill>
            <a:srgbClr val="005F7C"/>
          </a:solidFill>
          <a:ln>
            <a:solidFill>
              <a:srgbClr val="005F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6DE00931-336F-89FD-EFF2-19666C5E7CA4}"/>
              </a:ext>
            </a:extLst>
          </p:cNvPr>
          <p:cNvSpPr/>
          <p:nvPr/>
        </p:nvSpPr>
        <p:spPr>
          <a:xfrm>
            <a:off x="2857977" y="9417843"/>
            <a:ext cx="67151" cy="67151"/>
          </a:xfrm>
          <a:prstGeom prst="ellipse">
            <a:avLst/>
          </a:prstGeom>
          <a:solidFill>
            <a:srgbClr val="005F7C"/>
          </a:solidFill>
          <a:ln>
            <a:solidFill>
              <a:srgbClr val="005F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F16FEC0-2C26-F33B-349E-3D5A03417A78}"/>
              </a:ext>
            </a:extLst>
          </p:cNvPr>
          <p:cNvSpPr txBox="1"/>
          <p:nvPr/>
        </p:nvSpPr>
        <p:spPr>
          <a:xfrm>
            <a:off x="1333657" y="1651257"/>
            <a:ext cx="5499101" cy="346249"/>
          </a:xfrm>
          <a:prstGeom prst="rect">
            <a:avLst/>
          </a:prstGeom>
          <a:noFill/>
        </p:spPr>
        <p:txBody>
          <a:bodyPr wrap="square">
            <a:spAutoFit/>
          </a:bodyPr>
          <a:lstStyle/>
          <a:p>
            <a:pPr marL="0" marR="0" indent="88900" algn="ctr" rtl="1">
              <a:lnSpc>
                <a:spcPct val="150000"/>
              </a:lnSpc>
              <a:spcBef>
                <a:spcPts val="0"/>
              </a:spcBef>
              <a:spcAft>
                <a:spcPts val="0"/>
              </a:spcAft>
            </a:pPr>
            <a:r>
              <a:rPr lang="ar-SY" sz="1200" b="1" dirty="0">
                <a:latin typeface="Cocon® Next Arabic" panose="020A0503020102020204" pitchFamily="18" charset="-78"/>
                <a:ea typeface="Cocon® Next Arabic" panose="020A0503020102020204" pitchFamily="18" charset="-78"/>
                <a:cs typeface="Cocon® Next Arabic" panose="020A0503020102020204" pitchFamily="18" charset="-78"/>
              </a:rPr>
              <a:t>هذه الاستمارة مخصصة لطلاب الثالث الثانوي </a:t>
            </a:r>
            <a:r>
              <a:rPr lang="ar-SY" sz="1200" b="1"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(العلمي- الأدبي – التمهيدي)</a:t>
            </a:r>
            <a:endParaRPr lang="en-US" sz="600" dirty="0">
              <a:solidFill>
                <a:srgbClr val="005F7C"/>
              </a:solidFill>
              <a:effectLst/>
              <a:latin typeface="Cocon® Next Arabic" panose="020A0503020102020204" pitchFamily="18" charset="-78"/>
              <a:ea typeface="Cocon® Next Arabic" panose="020A0503020102020204" pitchFamily="18" charset="-78"/>
              <a:cs typeface="Cocon® Next Arabic" panose="020A0503020102020204" pitchFamily="18" charset="-78"/>
            </a:endParaRPr>
          </a:p>
        </p:txBody>
      </p:sp>
    </p:spTree>
    <p:extLst>
      <p:ext uri="{BB962C8B-B14F-4D97-AF65-F5344CB8AC3E}">
        <p14:creationId xmlns:p14="http://schemas.microsoft.com/office/powerpoint/2010/main" val="1505398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
            <a:lum/>
          </a:blip>
          <a:srcRect/>
          <a:stretch>
            <a:fillRect l="-1000" r="-1000"/>
          </a:stretch>
        </a:blip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23B62F4B-0CEC-5CA9-90E6-BD2EC94C41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5" y="0"/>
            <a:ext cx="3429000" cy="165386"/>
          </a:xfrm>
          <a:prstGeom prst="rect">
            <a:avLst/>
          </a:prstGeom>
        </p:spPr>
      </p:pic>
      <p:pic>
        <p:nvPicPr>
          <p:cNvPr id="21" name="Graphic 20">
            <a:extLst>
              <a:ext uri="{FF2B5EF4-FFF2-40B4-BE49-F238E27FC236}">
                <a16:creationId xmlns:a16="http://schemas.microsoft.com/office/drawing/2014/main" id="{E86F8580-4B3D-7056-35CF-27249BF142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3429000" y="0"/>
            <a:ext cx="3429000" cy="165386"/>
          </a:xfrm>
          <a:prstGeom prst="rect">
            <a:avLst/>
          </a:prstGeom>
        </p:spPr>
      </p:pic>
      <p:pic>
        <p:nvPicPr>
          <p:cNvPr id="48" name="Graphic 47">
            <a:extLst>
              <a:ext uri="{FF2B5EF4-FFF2-40B4-BE49-F238E27FC236}">
                <a16:creationId xmlns:a16="http://schemas.microsoft.com/office/drawing/2014/main" id="{FDD5653E-3592-5B8A-0651-1FB9902681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85725" y="9740614"/>
            <a:ext cx="3429000" cy="165386"/>
          </a:xfrm>
          <a:prstGeom prst="rect">
            <a:avLst/>
          </a:prstGeom>
        </p:spPr>
      </p:pic>
      <p:pic>
        <p:nvPicPr>
          <p:cNvPr id="49" name="Graphic 48">
            <a:extLst>
              <a:ext uri="{FF2B5EF4-FFF2-40B4-BE49-F238E27FC236}">
                <a16:creationId xmlns:a16="http://schemas.microsoft.com/office/drawing/2014/main" id="{A130BA2E-0F7C-7CC7-5FA1-2E782481D9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flipV="1">
            <a:off x="3429000" y="9740614"/>
            <a:ext cx="3429000" cy="165386"/>
          </a:xfrm>
          <a:prstGeom prst="rect">
            <a:avLst/>
          </a:prstGeom>
        </p:spPr>
      </p:pic>
      <p:sp>
        <p:nvSpPr>
          <p:cNvPr id="59" name="Rectangle: Top Corners Rounded 58">
            <a:extLst>
              <a:ext uri="{FF2B5EF4-FFF2-40B4-BE49-F238E27FC236}">
                <a16:creationId xmlns:a16="http://schemas.microsoft.com/office/drawing/2014/main" id="{8D7D14ED-1B83-5A14-5B68-4B57F8881544}"/>
              </a:ext>
            </a:extLst>
          </p:cNvPr>
          <p:cNvSpPr/>
          <p:nvPr/>
        </p:nvSpPr>
        <p:spPr>
          <a:xfrm>
            <a:off x="1003936" y="259558"/>
            <a:ext cx="4587240" cy="250822"/>
          </a:xfrm>
          <a:prstGeom prst="round2SameRect">
            <a:avLst>
              <a:gd name="adj1" fmla="val 50000"/>
              <a:gd name="adj2" fmla="val 0"/>
            </a:avLst>
          </a:prstGeom>
          <a:solidFill>
            <a:srgbClr val="005F7C"/>
          </a:solidFill>
          <a:ln>
            <a:solidFill>
              <a:srgbClr val="005F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Box 59">
            <a:extLst>
              <a:ext uri="{FF2B5EF4-FFF2-40B4-BE49-F238E27FC236}">
                <a16:creationId xmlns:a16="http://schemas.microsoft.com/office/drawing/2014/main" id="{DB4D9F12-91DC-DBFB-576F-1683FD3BDBA0}"/>
              </a:ext>
            </a:extLst>
          </p:cNvPr>
          <p:cNvSpPr txBox="1"/>
          <p:nvPr/>
        </p:nvSpPr>
        <p:spPr>
          <a:xfrm>
            <a:off x="1192771" y="214922"/>
            <a:ext cx="4209570" cy="340093"/>
          </a:xfrm>
          <a:prstGeom prst="rect">
            <a:avLst/>
          </a:prstGeom>
          <a:noFill/>
        </p:spPr>
        <p:txBody>
          <a:bodyPr wrap="square">
            <a:spAutoFit/>
          </a:bodyPr>
          <a:lstStyle/>
          <a:p>
            <a:pPr marL="0" marR="0" indent="88900" algn="r" rtl="1">
              <a:lnSpc>
                <a:spcPct val="115000"/>
              </a:lnSpc>
              <a:spcBef>
                <a:spcPts val="0"/>
              </a:spcBef>
              <a:spcAft>
                <a:spcPts val="0"/>
              </a:spcAft>
            </a:pPr>
            <a:r>
              <a:rPr lang="ar-SY" sz="1400" b="1"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rPr>
              <a:t>أنظمة وقوانين يجب أن يلتزم بها الطالب في معهد اليمان:</a:t>
            </a:r>
            <a:endParaRPr lang="en-US" sz="1400" b="1" dirty="0">
              <a:solidFill>
                <a:schemeClr val="bg1"/>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sp>
        <p:nvSpPr>
          <p:cNvPr id="61" name="TextBox 60">
            <a:extLst>
              <a:ext uri="{FF2B5EF4-FFF2-40B4-BE49-F238E27FC236}">
                <a16:creationId xmlns:a16="http://schemas.microsoft.com/office/drawing/2014/main" id="{E0EBEB7E-1301-1202-EAB0-FDF1EAE3F1DA}"/>
              </a:ext>
            </a:extLst>
          </p:cNvPr>
          <p:cNvSpPr txBox="1"/>
          <p:nvPr/>
        </p:nvSpPr>
        <p:spPr>
          <a:xfrm>
            <a:off x="412970" y="669402"/>
            <a:ext cx="6006880" cy="287002"/>
          </a:xfrm>
          <a:prstGeom prst="rect">
            <a:avLst/>
          </a:prstGeom>
          <a:noFill/>
        </p:spPr>
        <p:txBody>
          <a:bodyPr wrap="square">
            <a:spAutoFit/>
          </a:bodyPr>
          <a:lstStyle/>
          <a:p>
            <a:pPr marL="0" marR="0" indent="88900" algn="r" rtl="1">
              <a:lnSpc>
                <a:spcPct val="115000"/>
              </a:lnSpc>
              <a:spcBef>
                <a:spcPts val="0"/>
              </a:spcBef>
              <a:spcAft>
                <a:spcPts val="0"/>
              </a:spcAft>
            </a:pPr>
            <a:r>
              <a:rPr lang="ar-SY" sz="1100" b="1" dirty="0">
                <a:solidFill>
                  <a:srgbClr val="C00000"/>
                </a:solidFill>
                <a:latin typeface="Cocon® Next Arabic" panose="020A0503020102020204" pitchFamily="18" charset="-78"/>
                <a:ea typeface="Cocon® Next Arabic" panose="020A0503020102020204" pitchFamily="18" charset="-78"/>
                <a:cs typeface="Cocon® Next Arabic" panose="020A0503020102020204" pitchFamily="18" charset="-78"/>
              </a:rPr>
              <a:t>أتعهد بتنفيذ التعليمات الواردة أدناه تحت طائلة المسؤولية عند المخالفة بحسب النظام الداخلي لوزارة التربية: </a:t>
            </a:r>
            <a:endParaRPr lang="en-US" sz="1100" b="1" dirty="0">
              <a:solidFill>
                <a:srgbClr val="C00000"/>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graphicFrame>
        <p:nvGraphicFramePr>
          <p:cNvPr id="65" name="Table 64">
            <a:extLst>
              <a:ext uri="{FF2B5EF4-FFF2-40B4-BE49-F238E27FC236}">
                <a16:creationId xmlns:a16="http://schemas.microsoft.com/office/drawing/2014/main" id="{F876CE64-9A84-3B24-BB36-EDB4A89D23A9}"/>
              </a:ext>
            </a:extLst>
          </p:cNvPr>
          <p:cNvGraphicFramePr>
            <a:graphicFrameLocks noGrp="1"/>
          </p:cNvGraphicFramePr>
          <p:nvPr>
            <p:extLst>
              <p:ext uri="{D42A27DB-BD31-4B8C-83A1-F6EECF244321}">
                <p14:modId xmlns:p14="http://schemas.microsoft.com/office/powerpoint/2010/main" val="213736362"/>
              </p:ext>
            </p:extLst>
          </p:nvPr>
        </p:nvGraphicFramePr>
        <p:xfrm>
          <a:off x="85725" y="1012063"/>
          <a:ext cx="6681787" cy="6502146"/>
        </p:xfrm>
        <a:graphic>
          <a:graphicData uri="http://schemas.openxmlformats.org/drawingml/2006/table">
            <a:tbl>
              <a:tblPr rtl="1" firstRow="1" firstCol="1" bandRow="1">
                <a:tableStyleId>{2D5ABB26-0587-4C30-8999-92F81FD0307C}</a:tableStyleId>
              </a:tblPr>
              <a:tblGrid>
                <a:gridCol w="4420552">
                  <a:extLst>
                    <a:ext uri="{9D8B030D-6E8A-4147-A177-3AD203B41FA5}">
                      <a16:colId xmlns:a16="http://schemas.microsoft.com/office/drawing/2014/main" val="2108635777"/>
                    </a:ext>
                  </a:extLst>
                </a:gridCol>
                <a:gridCol w="2261235">
                  <a:extLst>
                    <a:ext uri="{9D8B030D-6E8A-4147-A177-3AD203B41FA5}">
                      <a16:colId xmlns:a16="http://schemas.microsoft.com/office/drawing/2014/main" val="2331909264"/>
                    </a:ext>
                  </a:extLst>
                </a:gridCol>
              </a:tblGrid>
              <a:tr h="6236462">
                <a:tc>
                  <a:txBody>
                    <a:bodyPr/>
                    <a:lstStyle/>
                    <a:p>
                      <a:pPr marL="0" marR="0" algn="r" rtl="1">
                        <a:lnSpc>
                          <a:spcPct val="150000"/>
                        </a:lnSpc>
                        <a:spcBef>
                          <a:spcPts val="0"/>
                        </a:spcBef>
                        <a:spcAft>
                          <a:spcPts val="0"/>
                        </a:spcAft>
                      </a:pP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1- المواظبة على الدوام والاهتمام بالدروس والوظائف وسيتم إبلاغ أولياء الأمور عن أي تقصير أو مخالفة أو أي تأخير عن الدوام. </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rtl="1">
                        <a:lnSpc>
                          <a:spcPct val="150000"/>
                        </a:lnSpc>
                        <a:spcBef>
                          <a:spcPts val="0"/>
                        </a:spcBef>
                        <a:spcAft>
                          <a:spcPts val="0"/>
                        </a:spcAft>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2</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-المحافظة على النظافة وأثاث ومحتويات المعهد.</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rtl="1">
                        <a:lnSpc>
                          <a:spcPct val="150000"/>
                        </a:lnSpc>
                        <a:spcBef>
                          <a:spcPts val="0"/>
                        </a:spcBef>
                        <a:spcAft>
                          <a:spcPts val="0"/>
                        </a:spcAft>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3</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-مراجعة الإدارة لإبداء أي ملاحظة تهمّ المعهد. </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rtl="1">
                        <a:lnSpc>
                          <a:spcPct val="150000"/>
                        </a:lnSpc>
                        <a:spcBef>
                          <a:spcPts val="0"/>
                        </a:spcBef>
                        <a:spcAft>
                          <a:spcPts val="0"/>
                        </a:spcAft>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4</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-خروج الطالب/ة من المعهد حصراً بحضور ولي أمره إلى المعهد. </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rtl="1">
                        <a:lnSpc>
                          <a:spcPct val="150000"/>
                        </a:lnSpc>
                        <a:spcBef>
                          <a:spcPts val="0"/>
                        </a:spcBef>
                        <a:spcAft>
                          <a:spcPts val="0"/>
                        </a:spcAft>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5</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المحافظة على الأغراض الشخصية: (</a:t>
                      </a:r>
                      <a:r>
                        <a:rPr lang="ar-SA" sz="92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نقود – ذهب – جوال ...) </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وعدم تركها بالقاعة،</a:t>
                      </a:r>
                      <a:r>
                        <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p>
                    <a:p>
                      <a:pPr marL="0" marR="0" algn="r" rtl="1">
                        <a:lnSpc>
                          <a:spcPct val="150000"/>
                        </a:lnSpc>
                        <a:spcBef>
                          <a:spcPts val="0"/>
                        </a:spcBef>
                        <a:spcAft>
                          <a:spcPts val="0"/>
                        </a:spcAft>
                      </a:pPr>
                      <a:r>
                        <a:rPr lang="ar-SA" sz="920" b="1" kern="1200" dirty="0">
                          <a:solidFill>
                            <a:srgbClr val="FF0000"/>
                          </a:solidFill>
                          <a:latin typeface="Cocon® Next Arabic" panose="020A0503020102020204" pitchFamily="18" charset="-78"/>
                          <a:ea typeface="Cocon® Next Arabic" panose="020A0503020102020204" pitchFamily="18" charset="-78"/>
                          <a:cs typeface="Cocon® Next Arabic" panose="020A0503020102020204" pitchFamily="18" charset="-78"/>
                        </a:rPr>
                        <a:t>غير مسؤولة عن فقدانها. </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r" rtl="0">
                        <a:lnSpc>
                          <a:spcPct val="150000"/>
                        </a:lnSpc>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6</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التقيد التام بالتعليمات الإدارية. </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7</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الالتزام بالشعبة التي تم وضع الطالب بها وفق ما ترى الإدارة وبما يتوافق مع تحصيله العلمي </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1</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يمنع التغيب عن الدوام دون إذن مسبق من الإدارة.</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2</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عدم التدخين نهائياً في المعهد</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أو حول حرمه.</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3</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-عدم الإساءة للنظام الداخلي وللزملاء وللمدرسين</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4</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-في حال حصول شجار دون الرجوع للإدارة يفصل الطرف</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ان</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من المعهد فصلاً نهائياً</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دوت إعادة القسط لأي منهما.</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5-عدم </a:t>
                      </a:r>
                      <a:r>
                        <a:rPr lang="ar-SY" sz="920" b="1" kern="1200" dirty="0" err="1">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إرتداء</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لباس </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لباس رياضي </a:t>
                      </a:r>
                      <a:r>
                        <a:rPr lang="ar-SA" sz="920" b="1" kern="1200" dirty="0" err="1">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أوضيق</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(الالتزام </a:t>
                      </a:r>
                      <a:r>
                        <a:rPr lang="ar-SY" sz="920" b="1" kern="1200" dirty="0" err="1">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بالباس</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اللائق).</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6</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عدم التجمع أمام المعهد قبل أو بعد الدوام. </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7</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عدم الخروج من المعهد أثناء الدوام</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لأي سبب كان </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8</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عدم استعمال</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الجوال داخل المعهد مهما كان السبب وسيتم مصادرته في حال المخالفة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920" b="1" kern="1200" dirty="0" err="1">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ولايعاد</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إلا بحضور ولي الأمر وتوقيع تعهد خطي)</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r" rtl="0">
                        <a:lnSpc>
                          <a:spcPct val="150000"/>
                        </a:lnSpc>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r" rtl="0">
                        <a:lnSpc>
                          <a:spcPct val="150000"/>
                        </a:lnSpc>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1</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الالتزام بدفع الأقساط كما يلي:</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r" rtl="0">
                        <a:lnSpc>
                          <a:spcPct val="150000"/>
                        </a:lnSpc>
                      </a:pP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أ- الدفعة الأولى: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نصف</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القسط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عند</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التثبيت</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وقبول الطالب</a:t>
                      </a:r>
                    </a:p>
                    <a:p>
                      <a:pPr algn="r" rtl="0">
                        <a:lnSpc>
                          <a:spcPct val="150000"/>
                        </a:lnSpc>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ب</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الدفعة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الثانية</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من تاريخ </a:t>
                      </a:r>
                      <a:r>
                        <a:rPr lang="ar-SY"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9/1 حتى تاريخ 9/15</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ج</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-الدفعة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الثانية</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من تاريخ </a:t>
                      </a:r>
                      <a:r>
                        <a:rPr lang="ar-SY"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11/1 حتى تاريخ 9/15</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2-</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قبل بداية الدورة</a:t>
                      </a: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p>
                    <a:p>
                      <a:pPr marL="0" marR="0" lvl="0" indent="0" algn="r" defTabSz="685800" rtl="0" eaLnBrk="1" fontAlgn="auto" latinLnBrk="0" hangingPunct="1">
                        <a:lnSpc>
                          <a:spcPct val="150000"/>
                        </a:lnSpc>
                        <a:spcBef>
                          <a:spcPts val="0"/>
                        </a:spcBef>
                        <a:spcAft>
                          <a:spcPts val="0"/>
                        </a:spcAft>
                        <a:buClrTx/>
                        <a:buSzTx/>
                        <a:buFontTx/>
                        <a:buNone/>
                        <a:tabLst/>
                        <a:defRPr/>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أ-</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يعاد المبلغ المدفوع كاملاً، مع حسم رسوم التسجيل </a:t>
                      </a:r>
                      <a:r>
                        <a:rPr lang="ar-SA"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(2</a:t>
                      </a:r>
                      <a:r>
                        <a:rPr lang="ar-SY"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5</a:t>
                      </a:r>
                      <a:r>
                        <a:rPr lang="ar-SA"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0</a:t>
                      </a:r>
                      <a:r>
                        <a:rPr lang="ar-SY"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A"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0</a:t>
                      </a:r>
                      <a:r>
                        <a:rPr lang="ar-SY"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0</a:t>
                      </a:r>
                      <a:r>
                        <a:rPr lang="ar-SA" sz="920" b="1" kern="1200"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0 ل.س)</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r" rtl="0">
                        <a:lnSpc>
                          <a:spcPct val="150000"/>
                        </a:lnSpc>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ب</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خلال الأسبوع الأول </a:t>
                      </a:r>
                      <a:r>
                        <a:rPr lang="ar-SA" sz="920" b="1" kern="1200" dirty="0">
                          <a:solidFill>
                            <a:srgbClr val="005F7C"/>
                          </a:solidFill>
                          <a:latin typeface="Cocon® Next Arabic" panose="020A0503020102020204" pitchFamily="18" charset="-78"/>
                          <a:ea typeface="Cocon® Next Arabic" panose="020A0503020102020204" pitchFamily="18" charset="-78"/>
                          <a:cs typeface="Cocon® Next Arabic" panose="020A0503020102020204" pitchFamily="18" charset="-78"/>
                        </a:rPr>
                        <a:t>يُعاد نصف المبلغ المدفوع</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r" rtl="0">
                        <a:lnSpc>
                          <a:spcPct val="150000"/>
                        </a:lnSpc>
                      </a:pPr>
                      <a: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ج</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بعد انتهاء الأسبوع الأول </a:t>
                      </a:r>
                      <a:r>
                        <a:rPr lang="ar-SA" sz="920" b="1" kern="1200" dirty="0">
                          <a:solidFill>
                            <a:srgbClr val="FF0000"/>
                          </a:solidFill>
                          <a:latin typeface="Cocon® Next Arabic" panose="020A0503020102020204" pitchFamily="18" charset="-78"/>
                          <a:ea typeface="Cocon® Next Arabic" panose="020A0503020102020204" pitchFamily="18" charset="-78"/>
                          <a:cs typeface="Cocon® Next Arabic" panose="020A0503020102020204" pitchFamily="18" charset="-78"/>
                        </a:rPr>
                        <a:t>لا يعاد القسط مهما كان السبب </a:t>
                      </a:r>
                      <a:r>
                        <a:rPr lang="ar-SA"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(الأسبوع الأول من انطلاقة الدورة وليس تاريخ التسجيل)، وذلك حسب تعليمات وزارة التربية.</a:t>
                      </a:r>
                      <a:br>
                        <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br>
                      <a:endParaRPr lang="ar-SY" sz="92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marL="0" marR="0" algn="r" defTabSz="685800" rtl="1" eaLnBrk="1" latinLnBrk="0" hangingPunct="1">
                        <a:lnSpc>
                          <a:spcPct val="150000"/>
                        </a:lnSpc>
                        <a:spcBef>
                          <a:spcPts val="0"/>
                        </a:spcBef>
                        <a:spcAft>
                          <a:spcPts val="0"/>
                        </a:spcAft>
                      </a:pPr>
                      <a:endParaRPr lang="en-US" sz="900" b="1" kern="1200"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00756"/>
                  </a:ext>
                </a:extLst>
              </a:tr>
            </a:tbl>
          </a:graphicData>
        </a:graphic>
      </p:graphicFrame>
      <p:pic>
        <p:nvPicPr>
          <p:cNvPr id="71" name="Graphic 70">
            <a:extLst>
              <a:ext uri="{FF2B5EF4-FFF2-40B4-BE49-F238E27FC236}">
                <a16:creationId xmlns:a16="http://schemas.microsoft.com/office/drawing/2014/main" id="{0C0A500C-BBB6-99B7-3B06-76850FE158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2321" y="1045225"/>
            <a:ext cx="2120900" cy="2120900"/>
          </a:xfrm>
          <a:prstGeom prst="rect">
            <a:avLst/>
          </a:prstGeom>
        </p:spPr>
      </p:pic>
      <p:sp>
        <p:nvSpPr>
          <p:cNvPr id="79" name="TextBox 78">
            <a:extLst>
              <a:ext uri="{FF2B5EF4-FFF2-40B4-BE49-F238E27FC236}">
                <a16:creationId xmlns:a16="http://schemas.microsoft.com/office/drawing/2014/main" id="{57649016-A9C7-1D2B-8ACC-D4B3194EFF83}"/>
              </a:ext>
            </a:extLst>
          </p:cNvPr>
          <p:cNvSpPr txBox="1"/>
          <p:nvPr/>
        </p:nvSpPr>
        <p:spPr>
          <a:xfrm>
            <a:off x="111354" y="8148736"/>
            <a:ext cx="6681788" cy="800860"/>
          </a:xfrm>
          <a:prstGeom prst="rect">
            <a:avLst/>
          </a:prstGeom>
          <a:noFill/>
        </p:spPr>
        <p:txBody>
          <a:bodyPr wrap="square">
            <a:spAutoFit/>
          </a:bodyPr>
          <a:lstStyle/>
          <a:p>
            <a:pPr marL="0" marR="0" algn="justLow" rtl="1">
              <a:lnSpc>
                <a:spcPct val="150000"/>
              </a:lnSpc>
              <a:spcBef>
                <a:spcPts val="0"/>
              </a:spcBef>
              <a:spcAft>
                <a:spcPts val="800"/>
              </a:spcAft>
            </a:pPr>
            <a:r>
              <a:rPr lang="ar-SY" sz="900" b="1" dirty="0">
                <a:solidFill>
                  <a:srgbClr val="FF0000"/>
                </a:solidFill>
                <a:latin typeface="Cocon® Next Arabic" panose="020A0503020102020204" pitchFamily="18" charset="-78"/>
                <a:ea typeface="Cocon® Next Arabic" panose="020A0503020102020204" pitchFamily="18" charset="-78"/>
                <a:cs typeface="Cocon® Next Arabic" panose="020A0503020102020204" pitchFamily="18" charset="-78"/>
              </a:rPr>
              <a:t>تعهد ولي الأمر: </a:t>
            </a: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أنا الموقع/ة أدناه</a:t>
            </a:r>
            <a:r>
              <a:rPr lang="ar-SA"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 </a:t>
            </a: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ولي أمر الطالب/ة</a:t>
            </a:r>
            <a:r>
              <a:rPr lang="ar-SA"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r>
              <a:rPr lang="ar-SA"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a:t>
            </a:r>
            <a:endParaRPr lang="en-US"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a:p>
            <a:pPr algn="justLow" rtl="1">
              <a:lnSpc>
                <a:spcPct val="150000"/>
              </a:lnSpc>
            </a:pPr>
            <a:r>
              <a:rPr lang="ar-SA"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أتعهد بأن يلتزم ولدي بجميع الملاحظات والتعليمات المذكورة أعلاه وأسقط حقي بالمطالبة بالقسط المدفوع في حال انسحاب أو فصل ولدي من المعهد لمخالفته التعليمات السابقة وعدم المطالبة بأي جزء من المبلغ مهما كان السبب ومهما كان عدد أيام الدوام وذلك حسب تعليمات وزارة التربية.</a:t>
            </a:r>
            <a:endParaRPr lang="en-US"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sp>
        <p:nvSpPr>
          <p:cNvPr id="80" name="TextBox 79">
            <a:extLst>
              <a:ext uri="{FF2B5EF4-FFF2-40B4-BE49-F238E27FC236}">
                <a16:creationId xmlns:a16="http://schemas.microsoft.com/office/drawing/2014/main" id="{77C584EC-BFF5-A8E6-A770-A8123FA53C56}"/>
              </a:ext>
            </a:extLst>
          </p:cNvPr>
          <p:cNvSpPr txBox="1"/>
          <p:nvPr/>
        </p:nvSpPr>
        <p:spPr>
          <a:xfrm>
            <a:off x="1646992" y="7844037"/>
            <a:ext cx="3735465" cy="304699"/>
          </a:xfrm>
          <a:prstGeom prst="rect">
            <a:avLst/>
          </a:prstGeom>
          <a:noFill/>
        </p:spPr>
        <p:txBody>
          <a:bodyPr wrap="square">
            <a:spAutoFit/>
          </a:bodyPr>
          <a:lstStyle/>
          <a:p>
            <a:pPr marL="0" marR="0" indent="88900" algn="r" rtl="1">
              <a:lnSpc>
                <a:spcPct val="115000"/>
              </a:lnSpc>
              <a:spcBef>
                <a:spcPts val="0"/>
              </a:spcBef>
              <a:spcAft>
                <a:spcPts val="0"/>
              </a:spcAft>
            </a:pPr>
            <a:r>
              <a:rPr lang="ar-SY" sz="1200" b="1" dirty="0">
                <a:solidFill>
                  <a:schemeClr val="tx1">
                    <a:lumMod val="95000"/>
                    <a:lumOff val="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في نهاية التسجيل يجب تعهد </a:t>
            </a:r>
            <a:r>
              <a:rPr lang="ar-SY"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rPr>
              <a:t>من قبل الطالب + ولي الأمر:</a:t>
            </a:r>
            <a:endParaRPr lang="en-US" sz="1200" b="1" dirty="0">
              <a:solidFill>
                <a:srgbClr val="62318A"/>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sp>
        <p:nvSpPr>
          <p:cNvPr id="82" name="TextBox 81">
            <a:extLst>
              <a:ext uri="{FF2B5EF4-FFF2-40B4-BE49-F238E27FC236}">
                <a16:creationId xmlns:a16="http://schemas.microsoft.com/office/drawing/2014/main" id="{FFD63868-ACD0-9792-A78E-C0B83E0D7943}"/>
              </a:ext>
            </a:extLst>
          </p:cNvPr>
          <p:cNvSpPr txBox="1"/>
          <p:nvPr/>
        </p:nvSpPr>
        <p:spPr>
          <a:xfrm>
            <a:off x="3338512" y="8995184"/>
            <a:ext cx="3429000" cy="611706"/>
          </a:xfrm>
          <a:prstGeom prst="rect">
            <a:avLst/>
          </a:prstGeom>
          <a:noFill/>
          <a:ln w="12700">
            <a:solidFill>
              <a:srgbClr val="62318A"/>
            </a:solidFill>
            <a:prstDash val="dashDot"/>
          </a:ln>
        </p:spPr>
        <p:txBody>
          <a:bodyPr wrap="square">
            <a:spAutoFit/>
          </a:bodyPr>
          <a:lstStyle/>
          <a:p>
            <a:pPr marL="0" marR="0" algn="ctr" rtl="1">
              <a:lnSpc>
                <a:spcPct val="200000"/>
              </a:lnSpc>
              <a:spcBef>
                <a:spcPts val="0"/>
              </a:spcBef>
              <a:spcAft>
                <a:spcPts val="0"/>
              </a:spcAft>
            </a:pP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قيمة الحسم (إن وجد):..................... سبب الحسم:............................</a:t>
            </a:r>
          </a:p>
          <a:p>
            <a:pPr marL="0" marR="0" algn="ctr" rtl="1">
              <a:lnSpc>
                <a:spcPct val="200000"/>
              </a:lnSpc>
              <a:spcBef>
                <a:spcPts val="0"/>
              </a:spcBef>
              <a:spcAft>
                <a:spcPts val="0"/>
              </a:spcAft>
            </a:pP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تاريخ ملء الاستمارة ......../........./........................   </a:t>
            </a:r>
            <a:endParaRPr lang="en-US"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sp>
        <p:nvSpPr>
          <p:cNvPr id="2" name="TextBox 1">
            <a:extLst>
              <a:ext uri="{FF2B5EF4-FFF2-40B4-BE49-F238E27FC236}">
                <a16:creationId xmlns:a16="http://schemas.microsoft.com/office/drawing/2014/main" id="{15A9950C-EEB9-88DC-75C8-710584FE6523}"/>
              </a:ext>
            </a:extLst>
          </p:cNvPr>
          <p:cNvSpPr txBox="1"/>
          <p:nvPr/>
        </p:nvSpPr>
        <p:spPr>
          <a:xfrm>
            <a:off x="178473" y="8995184"/>
            <a:ext cx="3040381" cy="611706"/>
          </a:xfrm>
          <a:prstGeom prst="rect">
            <a:avLst/>
          </a:prstGeom>
          <a:noFill/>
          <a:ln w="12700">
            <a:solidFill>
              <a:srgbClr val="005F7C"/>
            </a:solidFill>
            <a:prstDash val="dashDot"/>
          </a:ln>
        </p:spPr>
        <p:txBody>
          <a:bodyPr wrap="square">
            <a:spAutoFit/>
          </a:bodyPr>
          <a:lstStyle/>
          <a:p>
            <a:pPr marL="0" marR="0" algn="ctr" rtl="1">
              <a:lnSpc>
                <a:spcPct val="200000"/>
              </a:lnSpc>
              <a:spcBef>
                <a:spcPts val="0"/>
              </a:spcBef>
              <a:spcAft>
                <a:spcPts val="0"/>
              </a:spcAft>
            </a:pP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اسم الموظف/ة:......................................................</a:t>
            </a:r>
          </a:p>
          <a:p>
            <a:pPr marL="0" marR="0" algn="ctr" rtl="1">
              <a:lnSpc>
                <a:spcPct val="200000"/>
              </a:lnSpc>
              <a:spcBef>
                <a:spcPts val="0"/>
              </a:spcBef>
              <a:spcAft>
                <a:spcPts val="0"/>
              </a:spcAft>
            </a:pPr>
            <a:r>
              <a:rPr lang="ar-SY"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rPr>
              <a:t>توقيع الموظف/ة:</a:t>
            </a:r>
            <a:endParaRPr lang="en-US" sz="900" b="1" dirty="0">
              <a:solidFill>
                <a:schemeClr val="tx1">
                  <a:lumMod val="85000"/>
                  <a:lumOff val="15000"/>
                </a:schemeClr>
              </a:solidFill>
              <a:latin typeface="Cocon® Next Arabic" panose="020A0503020102020204" pitchFamily="18" charset="-78"/>
              <a:ea typeface="Cocon® Next Arabic" panose="020A0503020102020204" pitchFamily="18" charset="-78"/>
              <a:cs typeface="Cocon® Next Arabic" panose="020A0503020102020204" pitchFamily="18" charset="-78"/>
            </a:endParaRPr>
          </a:p>
        </p:txBody>
      </p:sp>
      <p:pic>
        <p:nvPicPr>
          <p:cNvPr id="4" name="Graphic 3">
            <a:extLst>
              <a:ext uri="{FF2B5EF4-FFF2-40B4-BE49-F238E27FC236}">
                <a16:creationId xmlns:a16="http://schemas.microsoft.com/office/drawing/2014/main" id="{A67B0938-388B-DD28-9D1E-11D47F3AA23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725" y="3154681"/>
            <a:ext cx="2265044" cy="2265044"/>
          </a:xfrm>
          <a:prstGeom prst="rect">
            <a:avLst/>
          </a:prstGeom>
        </p:spPr>
      </p:pic>
      <p:cxnSp>
        <p:nvCxnSpPr>
          <p:cNvPr id="8" name="Straight Connector 7">
            <a:extLst>
              <a:ext uri="{FF2B5EF4-FFF2-40B4-BE49-F238E27FC236}">
                <a16:creationId xmlns:a16="http://schemas.microsoft.com/office/drawing/2014/main" id="{89E5D6A4-5623-C722-1FE0-B56EB619D104}"/>
              </a:ext>
            </a:extLst>
          </p:cNvPr>
          <p:cNvCxnSpPr>
            <a:cxnSpLocks/>
          </p:cNvCxnSpPr>
          <p:nvPr/>
        </p:nvCxnSpPr>
        <p:spPr>
          <a:xfrm flipH="1">
            <a:off x="132321" y="3017192"/>
            <a:ext cx="2085746" cy="0"/>
          </a:xfrm>
          <a:prstGeom prst="line">
            <a:avLst/>
          </a:prstGeom>
          <a:ln w="9525">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598A48-8D09-60D3-17A0-7A94FCB5F2C1}"/>
              </a:ext>
            </a:extLst>
          </p:cNvPr>
          <p:cNvCxnSpPr>
            <a:cxnSpLocks/>
          </p:cNvCxnSpPr>
          <p:nvPr/>
        </p:nvCxnSpPr>
        <p:spPr>
          <a:xfrm flipH="1">
            <a:off x="149898" y="5321846"/>
            <a:ext cx="2085746" cy="0"/>
          </a:xfrm>
          <a:prstGeom prst="line">
            <a:avLst/>
          </a:prstGeom>
          <a:ln w="9525">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B945A55E-C81B-D710-45EA-54CAAEDC31E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9898" y="5455571"/>
            <a:ext cx="2149919" cy="2149919"/>
          </a:xfrm>
          <a:prstGeom prst="rect">
            <a:avLst/>
          </a:prstGeom>
        </p:spPr>
      </p:pic>
    </p:spTree>
    <p:extLst>
      <p:ext uri="{BB962C8B-B14F-4D97-AF65-F5344CB8AC3E}">
        <p14:creationId xmlns:p14="http://schemas.microsoft.com/office/powerpoint/2010/main" val="37975859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237</TotalTime>
  <Words>705</Words>
  <Application>Microsoft Office PowerPoint</Application>
  <PresentationFormat>A4 Paper (210x297 mm)‎</PresentationFormat>
  <Paragraphs>116</Paragraphs>
  <Slides>2</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2</vt:i4>
      </vt:variant>
    </vt:vector>
  </HeadingPairs>
  <TitlesOfParts>
    <vt:vector size="7" baseType="lpstr">
      <vt:lpstr>Arial</vt:lpstr>
      <vt:lpstr>Calibri</vt:lpstr>
      <vt:lpstr>Calibri Light</vt:lpstr>
      <vt:lpstr>Cocon® Next Arabic</vt:lpstr>
      <vt:lpstr>Office Theme</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Akram Alhamdan</dc:creator>
  <cp:lastModifiedBy>pc</cp:lastModifiedBy>
  <cp:revision>15</cp:revision>
  <dcterms:created xsi:type="dcterms:W3CDTF">2024-07-04T09:34:25Z</dcterms:created>
  <dcterms:modified xsi:type="dcterms:W3CDTF">2026-04-21T13:59:11Z</dcterms:modified>
</cp:coreProperties>
</file>